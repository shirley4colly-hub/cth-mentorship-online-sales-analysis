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3.xml" ContentType="application/vnd.openxmlformats-officedocument.themeOverr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4.xml" ContentType="application/vnd.openxmlformats-officedocument.themeOverr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109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C:\Users\shirl\Desktop\Data%20Analytics\CTH-Data-analytics-mentees\CTH-DATA-ANALYTICS-MENTEES-main\LIVE%20SESSIONS\EXCEL\Live%20Excel%20Project\Online%20sales%20assignment%202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C:\Users\shirl\Desktop\Data%20Analytics\CTH-Data-analytics-mentees\CTH-DATA-ANALYTICS-MENTEES-main\LIVE%20SESSIONS\EXCEL\Live%20Excel%20Project\Online%20sales%20assignment%202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shirl\Desktop\Data%20Analytics\CTH-Data-analytics-mentees\CTH-DATA-ANALYTICS-MENTEES-main\LIVE%20SESSIONS\EXCEL\Live%20Excel%20Project\Online%20sales%20assignment%202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oleObject" Target="file:///C:\Users\shirl\Desktop\Data%20Analytics\CTH-Data-analytics-mentees\CTH-DATA-ANALYTICS-MENTEES-main\LIVE%20SESSIONS\EXCEL\Live%20Excel%20Project\Online%20sales%20assignment%202.xlsx" TargetMode="Externa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oleObject" Target="file:///C:\Users\shirl\Desktop\Data%20Analytics\CTH-Data-analytics-mentees\CTH-DATA-ANALYTICS-MENTEES-main\LIVE%20SESSIONS\EXCEL\Live%20Excel%20Project\Online%20sales%20assignment%202.xlsx" TargetMode="Externa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oleObject" Target="file:///C:\Users\shirl\Desktop\Data%20Analytics\CTH-Data-analytics-mentees\CTH-DATA-ANALYTICS-MENTEES-main\LIVE%20SESSIONS\EXCEL\Live%20Excel%20Project\Online%20sales%20assignment%202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[Online sales assignment 2.xlsx]Explore!PivotTable11</c:name>
    <c:fmtId val="1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Sales trend across Region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Explore!$E$18:$E$19</c:f>
              <c:strCache>
                <c:ptCount val="1"/>
                <c:pt idx="0">
                  <c:v>2020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Explore!$D$20:$D$32</c:f>
              <c:strCache>
                <c:ptCount val="12"/>
                <c:pt idx="0">
                  <c:v>Australia</c:v>
                </c:pt>
                <c:pt idx="1">
                  <c:v>Belgium</c:v>
                </c:pt>
                <c:pt idx="2">
                  <c:v>France</c:v>
                </c:pt>
                <c:pt idx="3">
                  <c:v>Germany</c:v>
                </c:pt>
                <c:pt idx="4">
                  <c:v>Italy</c:v>
                </c:pt>
                <c:pt idx="5">
                  <c:v>Netherlands</c:v>
                </c:pt>
                <c:pt idx="6">
                  <c:v>Norway</c:v>
                </c:pt>
                <c:pt idx="7">
                  <c:v>Portugal</c:v>
                </c:pt>
                <c:pt idx="8">
                  <c:v>Spain</c:v>
                </c:pt>
                <c:pt idx="9">
                  <c:v>Sweden</c:v>
                </c:pt>
                <c:pt idx="10">
                  <c:v>United Kingdom</c:v>
                </c:pt>
                <c:pt idx="11">
                  <c:v>United States</c:v>
                </c:pt>
              </c:strCache>
            </c:strRef>
          </c:cat>
          <c:val>
            <c:numRef>
              <c:f>Explore!$E$20:$E$32</c:f>
              <c:numCache>
                <c:formatCode>"$"#,##0.00</c:formatCode>
                <c:ptCount val="12"/>
                <c:pt idx="0">
                  <c:v>313330.77999999985</c:v>
                </c:pt>
                <c:pt idx="1">
                  <c:v>318117.20999999979</c:v>
                </c:pt>
                <c:pt idx="2">
                  <c:v>336080.17999999964</c:v>
                </c:pt>
                <c:pt idx="3">
                  <c:v>327372.0999999998</c:v>
                </c:pt>
                <c:pt idx="4">
                  <c:v>356027.6500000002</c:v>
                </c:pt>
                <c:pt idx="5">
                  <c:v>356912.20000000024</c:v>
                </c:pt>
                <c:pt idx="6">
                  <c:v>328601.77999999974</c:v>
                </c:pt>
                <c:pt idx="7">
                  <c:v>308810.88999999996</c:v>
                </c:pt>
                <c:pt idx="8">
                  <c:v>361040.65000000008</c:v>
                </c:pt>
                <c:pt idx="9">
                  <c:v>294843.83</c:v>
                </c:pt>
                <c:pt idx="10">
                  <c:v>295878.07000000018</c:v>
                </c:pt>
                <c:pt idx="11">
                  <c:v>312527.42000000004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15F-40D0-BEF6-DBFFA5D54EB8}"/>
            </c:ext>
          </c:extLst>
        </c:ser>
        <c:ser>
          <c:idx val="1"/>
          <c:order val="1"/>
          <c:tx>
            <c:strRef>
              <c:f>Explore!$F$18:$F$19</c:f>
              <c:strCache>
                <c:ptCount val="1"/>
                <c:pt idx="0">
                  <c:v>2021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Explore!$D$20:$D$32</c:f>
              <c:strCache>
                <c:ptCount val="12"/>
                <c:pt idx="0">
                  <c:v>Australia</c:v>
                </c:pt>
                <c:pt idx="1">
                  <c:v>Belgium</c:v>
                </c:pt>
                <c:pt idx="2">
                  <c:v>France</c:v>
                </c:pt>
                <c:pt idx="3">
                  <c:v>Germany</c:v>
                </c:pt>
                <c:pt idx="4">
                  <c:v>Italy</c:v>
                </c:pt>
                <c:pt idx="5">
                  <c:v>Netherlands</c:v>
                </c:pt>
                <c:pt idx="6">
                  <c:v>Norway</c:v>
                </c:pt>
                <c:pt idx="7">
                  <c:v>Portugal</c:v>
                </c:pt>
                <c:pt idx="8">
                  <c:v>Spain</c:v>
                </c:pt>
                <c:pt idx="9">
                  <c:v>Sweden</c:v>
                </c:pt>
                <c:pt idx="10">
                  <c:v>United Kingdom</c:v>
                </c:pt>
                <c:pt idx="11">
                  <c:v>United States</c:v>
                </c:pt>
              </c:strCache>
            </c:strRef>
          </c:cat>
          <c:val>
            <c:numRef>
              <c:f>Explore!$F$20:$F$32</c:f>
              <c:numCache>
                <c:formatCode>"$"#,##0.00</c:formatCode>
                <c:ptCount val="12"/>
                <c:pt idx="0">
                  <c:v>381483.89000000025</c:v>
                </c:pt>
                <c:pt idx="1">
                  <c:v>292548.74000000011</c:v>
                </c:pt>
                <c:pt idx="2">
                  <c:v>317603.39</c:v>
                </c:pt>
                <c:pt idx="3">
                  <c:v>331586.8000000001</c:v>
                </c:pt>
                <c:pt idx="4">
                  <c:v>320670.60999999969</c:v>
                </c:pt>
                <c:pt idx="5">
                  <c:v>312087.02999999997</c:v>
                </c:pt>
                <c:pt idx="6">
                  <c:v>376676.51999999979</c:v>
                </c:pt>
                <c:pt idx="7">
                  <c:v>319880.35999999993</c:v>
                </c:pt>
                <c:pt idx="8">
                  <c:v>298836.3600000001</c:v>
                </c:pt>
                <c:pt idx="9">
                  <c:v>363672.79000000021</c:v>
                </c:pt>
                <c:pt idx="10">
                  <c:v>373633.40000000026</c:v>
                </c:pt>
                <c:pt idx="11">
                  <c:v>280648.30999999994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E15F-40D0-BEF6-DBFFA5D54EB8}"/>
            </c:ext>
          </c:extLst>
        </c:ser>
        <c:ser>
          <c:idx val="2"/>
          <c:order val="2"/>
          <c:tx>
            <c:strRef>
              <c:f>Explore!$G$18:$G$19</c:f>
              <c:strCache>
                <c:ptCount val="1"/>
                <c:pt idx="0">
                  <c:v>2022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Explore!$D$20:$D$32</c:f>
              <c:strCache>
                <c:ptCount val="12"/>
                <c:pt idx="0">
                  <c:v>Australia</c:v>
                </c:pt>
                <c:pt idx="1">
                  <c:v>Belgium</c:v>
                </c:pt>
                <c:pt idx="2">
                  <c:v>France</c:v>
                </c:pt>
                <c:pt idx="3">
                  <c:v>Germany</c:v>
                </c:pt>
                <c:pt idx="4">
                  <c:v>Italy</c:v>
                </c:pt>
                <c:pt idx="5">
                  <c:v>Netherlands</c:v>
                </c:pt>
                <c:pt idx="6">
                  <c:v>Norway</c:v>
                </c:pt>
                <c:pt idx="7">
                  <c:v>Portugal</c:v>
                </c:pt>
                <c:pt idx="8">
                  <c:v>Spain</c:v>
                </c:pt>
                <c:pt idx="9">
                  <c:v>Sweden</c:v>
                </c:pt>
                <c:pt idx="10">
                  <c:v>United Kingdom</c:v>
                </c:pt>
                <c:pt idx="11">
                  <c:v>United States</c:v>
                </c:pt>
              </c:strCache>
            </c:strRef>
          </c:cat>
          <c:val>
            <c:numRef>
              <c:f>Explore!$G$20:$G$32</c:f>
              <c:numCache>
                <c:formatCode>"$"#,##0.00</c:formatCode>
                <c:ptCount val="12"/>
                <c:pt idx="0">
                  <c:v>302693.15000000002</c:v>
                </c:pt>
                <c:pt idx="1">
                  <c:v>341306.75999999989</c:v>
                </c:pt>
                <c:pt idx="2">
                  <c:v>308286.49000000017</c:v>
                </c:pt>
                <c:pt idx="3">
                  <c:v>366785.24999999983</c:v>
                </c:pt>
                <c:pt idx="4">
                  <c:v>314606.47000000032</c:v>
                </c:pt>
                <c:pt idx="5">
                  <c:v>304416.55</c:v>
                </c:pt>
                <c:pt idx="6">
                  <c:v>261448.15999999995</c:v>
                </c:pt>
                <c:pt idx="7">
                  <c:v>308365.25000000012</c:v>
                </c:pt>
                <c:pt idx="8">
                  <c:v>308863.10000000003</c:v>
                </c:pt>
                <c:pt idx="9">
                  <c:v>361474.10000000003</c:v>
                </c:pt>
                <c:pt idx="10">
                  <c:v>333451.96000000014</c:v>
                </c:pt>
                <c:pt idx="11">
                  <c:v>373726.40000000014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E15F-40D0-BEF6-DBFFA5D54EB8}"/>
            </c:ext>
          </c:extLst>
        </c:ser>
        <c:ser>
          <c:idx val="3"/>
          <c:order val="3"/>
          <c:tx>
            <c:strRef>
              <c:f>Explore!$H$18:$H$19</c:f>
              <c:strCache>
                <c:ptCount val="1"/>
                <c:pt idx="0">
                  <c:v>2023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Explore!$D$20:$D$32</c:f>
              <c:strCache>
                <c:ptCount val="12"/>
                <c:pt idx="0">
                  <c:v>Australia</c:v>
                </c:pt>
                <c:pt idx="1">
                  <c:v>Belgium</c:v>
                </c:pt>
                <c:pt idx="2">
                  <c:v>France</c:v>
                </c:pt>
                <c:pt idx="3">
                  <c:v>Germany</c:v>
                </c:pt>
                <c:pt idx="4">
                  <c:v>Italy</c:v>
                </c:pt>
                <c:pt idx="5">
                  <c:v>Netherlands</c:v>
                </c:pt>
                <c:pt idx="6">
                  <c:v>Norway</c:v>
                </c:pt>
                <c:pt idx="7">
                  <c:v>Portugal</c:v>
                </c:pt>
                <c:pt idx="8">
                  <c:v>Spain</c:v>
                </c:pt>
                <c:pt idx="9">
                  <c:v>Sweden</c:v>
                </c:pt>
                <c:pt idx="10">
                  <c:v>United Kingdom</c:v>
                </c:pt>
                <c:pt idx="11">
                  <c:v>United States</c:v>
                </c:pt>
              </c:strCache>
            </c:strRef>
          </c:cat>
          <c:val>
            <c:numRef>
              <c:f>Explore!$H$20:$H$32</c:f>
              <c:numCache>
                <c:formatCode>"$"#,##0.00</c:formatCode>
                <c:ptCount val="12"/>
                <c:pt idx="0">
                  <c:v>348974.71000000025</c:v>
                </c:pt>
                <c:pt idx="1">
                  <c:v>376134.88000000018</c:v>
                </c:pt>
                <c:pt idx="2">
                  <c:v>302101.39999999997</c:v>
                </c:pt>
                <c:pt idx="3">
                  <c:v>332536.96999999986</c:v>
                </c:pt>
                <c:pt idx="4">
                  <c:v>324359.61</c:v>
                </c:pt>
                <c:pt idx="5">
                  <c:v>320842.84999999998</c:v>
                </c:pt>
                <c:pt idx="6">
                  <c:v>280633.85999999987</c:v>
                </c:pt>
                <c:pt idx="7">
                  <c:v>292139.70000000007</c:v>
                </c:pt>
                <c:pt idx="8">
                  <c:v>284569.34999999992</c:v>
                </c:pt>
                <c:pt idx="9">
                  <c:v>318584.76999999973</c:v>
                </c:pt>
                <c:pt idx="10">
                  <c:v>336102.68000000011</c:v>
                </c:pt>
                <c:pt idx="11">
                  <c:v>337465.74000000005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E15F-40D0-BEF6-DBFFA5D54EB8}"/>
            </c:ext>
          </c:extLst>
        </c:ser>
        <c:ser>
          <c:idx val="4"/>
          <c:order val="4"/>
          <c:tx>
            <c:strRef>
              <c:f>Explore!$I$18:$I$19</c:f>
              <c:strCache>
                <c:ptCount val="1"/>
                <c:pt idx="0">
                  <c:v>2024</c:v>
                </c:pt>
              </c:strCache>
            </c:strRef>
          </c:tx>
          <c:spPr>
            <a:ln w="28575" cap="rnd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cat>
            <c:strRef>
              <c:f>Explore!$D$20:$D$32</c:f>
              <c:strCache>
                <c:ptCount val="12"/>
                <c:pt idx="0">
                  <c:v>Australia</c:v>
                </c:pt>
                <c:pt idx="1">
                  <c:v>Belgium</c:v>
                </c:pt>
                <c:pt idx="2">
                  <c:v>France</c:v>
                </c:pt>
                <c:pt idx="3">
                  <c:v>Germany</c:v>
                </c:pt>
                <c:pt idx="4">
                  <c:v>Italy</c:v>
                </c:pt>
                <c:pt idx="5">
                  <c:v>Netherlands</c:v>
                </c:pt>
                <c:pt idx="6">
                  <c:v>Norway</c:v>
                </c:pt>
                <c:pt idx="7">
                  <c:v>Portugal</c:v>
                </c:pt>
                <c:pt idx="8">
                  <c:v>Spain</c:v>
                </c:pt>
                <c:pt idx="9">
                  <c:v>Sweden</c:v>
                </c:pt>
                <c:pt idx="10">
                  <c:v>United Kingdom</c:v>
                </c:pt>
                <c:pt idx="11">
                  <c:v>United States</c:v>
                </c:pt>
              </c:strCache>
            </c:strRef>
          </c:cat>
          <c:val>
            <c:numRef>
              <c:f>Explore!$I$20:$I$32</c:f>
              <c:numCache>
                <c:formatCode>"$"#,##0.00</c:formatCode>
                <c:ptCount val="12"/>
                <c:pt idx="0">
                  <c:v>349005.33000000037</c:v>
                </c:pt>
                <c:pt idx="1">
                  <c:v>340600.8499999998</c:v>
                </c:pt>
                <c:pt idx="2">
                  <c:v>305252.43000000028</c:v>
                </c:pt>
                <c:pt idx="3">
                  <c:v>371340.69000000006</c:v>
                </c:pt>
                <c:pt idx="4">
                  <c:v>320935.63</c:v>
                </c:pt>
                <c:pt idx="5">
                  <c:v>292565.93999999994</c:v>
                </c:pt>
                <c:pt idx="6">
                  <c:v>290852.47000000009</c:v>
                </c:pt>
                <c:pt idx="7">
                  <c:v>343171.51000000007</c:v>
                </c:pt>
                <c:pt idx="8">
                  <c:v>371191.24</c:v>
                </c:pt>
                <c:pt idx="9">
                  <c:v>339621.62999999989</c:v>
                </c:pt>
                <c:pt idx="10">
                  <c:v>310311.34999999986</c:v>
                </c:pt>
                <c:pt idx="11">
                  <c:v>324939.12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E15F-40D0-BEF6-DBFFA5D54EB8}"/>
            </c:ext>
          </c:extLst>
        </c:ser>
        <c:ser>
          <c:idx val="5"/>
          <c:order val="5"/>
          <c:tx>
            <c:strRef>
              <c:f>Explore!$J$18:$J$19</c:f>
              <c:strCache>
                <c:ptCount val="1"/>
                <c:pt idx="0">
                  <c:v>2025</c:v>
                </c:pt>
              </c:strCache>
            </c:strRef>
          </c:tx>
          <c:spPr>
            <a:ln w="28575" cap="rnd">
              <a:solidFill>
                <a:schemeClr val="accent6"/>
              </a:solidFill>
              <a:round/>
            </a:ln>
            <a:effectLst/>
          </c:spPr>
          <c:marker>
            <c:symbol val="none"/>
          </c:marker>
          <c:cat>
            <c:strRef>
              <c:f>Explore!$D$20:$D$32</c:f>
              <c:strCache>
                <c:ptCount val="12"/>
                <c:pt idx="0">
                  <c:v>Australia</c:v>
                </c:pt>
                <c:pt idx="1">
                  <c:v>Belgium</c:v>
                </c:pt>
                <c:pt idx="2">
                  <c:v>France</c:v>
                </c:pt>
                <c:pt idx="3">
                  <c:v>Germany</c:v>
                </c:pt>
                <c:pt idx="4">
                  <c:v>Italy</c:v>
                </c:pt>
                <c:pt idx="5">
                  <c:v>Netherlands</c:v>
                </c:pt>
                <c:pt idx="6">
                  <c:v>Norway</c:v>
                </c:pt>
                <c:pt idx="7">
                  <c:v>Portugal</c:v>
                </c:pt>
                <c:pt idx="8">
                  <c:v>Spain</c:v>
                </c:pt>
                <c:pt idx="9">
                  <c:v>Sweden</c:v>
                </c:pt>
                <c:pt idx="10">
                  <c:v>United Kingdom</c:v>
                </c:pt>
                <c:pt idx="11">
                  <c:v>United States</c:v>
                </c:pt>
              </c:strCache>
            </c:strRef>
          </c:cat>
          <c:val>
            <c:numRef>
              <c:f>Explore!$J$20:$J$32</c:f>
              <c:numCache>
                <c:formatCode>"$"#,##0.00</c:formatCode>
                <c:ptCount val="12"/>
                <c:pt idx="0">
                  <c:v>177098.04999999996</c:v>
                </c:pt>
                <c:pt idx="1">
                  <c:v>255204.69000000009</c:v>
                </c:pt>
                <c:pt idx="2">
                  <c:v>246708.02999999994</c:v>
                </c:pt>
                <c:pt idx="3">
                  <c:v>209016.3</c:v>
                </c:pt>
                <c:pt idx="4">
                  <c:v>261558.09000000003</c:v>
                </c:pt>
                <c:pt idx="5">
                  <c:v>194392.90999999986</c:v>
                </c:pt>
                <c:pt idx="6">
                  <c:v>285177.18999999983</c:v>
                </c:pt>
                <c:pt idx="7">
                  <c:v>238988.72999999998</c:v>
                </c:pt>
                <c:pt idx="8">
                  <c:v>224542.93</c:v>
                </c:pt>
                <c:pt idx="9">
                  <c:v>235223.90999999992</c:v>
                </c:pt>
                <c:pt idx="10">
                  <c:v>271682.23999999993</c:v>
                </c:pt>
                <c:pt idx="11">
                  <c:v>183931.76999999996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5-E15F-40D0-BEF6-DBFFA5D54E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39421776"/>
        <c:axId val="939422256"/>
      </c:lineChart>
      <c:catAx>
        <c:axId val="939421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939422256"/>
        <c:crosses val="autoZero"/>
        <c:auto val="1"/>
        <c:lblAlgn val="ctr"/>
        <c:lblOffset val="100"/>
        <c:noMultiLvlLbl val="0"/>
      </c:catAx>
      <c:valAx>
        <c:axId val="939422256"/>
        <c:scaling>
          <c:orientation val="minMax"/>
        </c:scaling>
        <c:delete val="1"/>
        <c:axPos val="l"/>
        <c:numFmt formatCode="&quot;$&quot;#,##0.00" sourceLinked="1"/>
        <c:majorTickMark val="none"/>
        <c:minorTickMark val="none"/>
        <c:tickLblPos val="nextTo"/>
        <c:crossAx val="9394217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6">
        <a:lumMod val="60000"/>
        <a:lumOff val="40000"/>
      </a:schemeClr>
    </a:solidFill>
    <a:ln w="9525" cap="flat" cmpd="sng" algn="ctr">
      <a:noFill/>
      <a:round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[Online sales assignment 2.xlsx]Explore!PivotTable12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Sales trend</a:t>
            </a:r>
            <a:r>
              <a:rPr lang="en-US" b="1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across Time</a:t>
            </a:r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6">
                <a:lumMod val="7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t"/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6">
                <a:lumMod val="7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6">
                <a:lumMod val="75000"/>
              </a:schemeClr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Explore!$N$18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6">
                  <a:lumMod val="75000"/>
                </a:schemeClr>
              </a:solidFill>
              <a:round/>
            </a:ln>
            <a:effectLst/>
          </c:spPr>
          <c:marker>
            <c:symbol val="none"/>
          </c:marker>
          <c:cat>
            <c:strRef>
              <c:f>Explore!$M$19:$M$43</c:f>
              <c:strCache>
                <c:ptCount val="24"/>
                <c:pt idx="0">
                  <c:v>12:00:00 AM</c:v>
                </c:pt>
                <c:pt idx="1">
                  <c:v>1:00:00 AM</c:v>
                </c:pt>
                <c:pt idx="2">
                  <c:v>2:00:00 AM</c:v>
                </c:pt>
                <c:pt idx="3">
                  <c:v>3:00:00 AM</c:v>
                </c:pt>
                <c:pt idx="4">
                  <c:v>4:00:00 AM</c:v>
                </c:pt>
                <c:pt idx="5">
                  <c:v>5:00:00 AM</c:v>
                </c:pt>
                <c:pt idx="6">
                  <c:v>6:00:00 AM</c:v>
                </c:pt>
                <c:pt idx="7">
                  <c:v>7:00:00 AM</c:v>
                </c:pt>
                <c:pt idx="8">
                  <c:v>8:00:00 AM</c:v>
                </c:pt>
                <c:pt idx="9">
                  <c:v>9:00:00 AM</c:v>
                </c:pt>
                <c:pt idx="10">
                  <c:v>10:00:00 AM</c:v>
                </c:pt>
                <c:pt idx="11">
                  <c:v>11:00:00 AM</c:v>
                </c:pt>
                <c:pt idx="12">
                  <c:v>12:00:00 PM</c:v>
                </c:pt>
                <c:pt idx="13">
                  <c:v>1:00:00 PM</c:v>
                </c:pt>
                <c:pt idx="14">
                  <c:v>2:00:00 PM</c:v>
                </c:pt>
                <c:pt idx="15">
                  <c:v>3:00:00 PM</c:v>
                </c:pt>
                <c:pt idx="16">
                  <c:v>4:00:00 PM</c:v>
                </c:pt>
                <c:pt idx="17">
                  <c:v>5:00:00 PM</c:v>
                </c:pt>
                <c:pt idx="18">
                  <c:v>6:00:00 PM</c:v>
                </c:pt>
                <c:pt idx="19">
                  <c:v>7:00:00 PM</c:v>
                </c:pt>
                <c:pt idx="20">
                  <c:v>8:00:00 PM</c:v>
                </c:pt>
                <c:pt idx="21">
                  <c:v>9:00:00 PM</c:v>
                </c:pt>
                <c:pt idx="22">
                  <c:v>10:00:00 PM</c:v>
                </c:pt>
                <c:pt idx="23">
                  <c:v>11:00:00 PM</c:v>
                </c:pt>
              </c:strCache>
            </c:strRef>
          </c:cat>
          <c:val>
            <c:numRef>
              <c:f>Explore!$N$19:$N$43</c:f>
              <c:numCache>
                <c:formatCode>"$"#,##0.00</c:formatCode>
                <c:ptCount val="24"/>
                <c:pt idx="0">
                  <c:v>938625.65000000072</c:v>
                </c:pt>
                <c:pt idx="1">
                  <c:v>960628.44999999972</c:v>
                </c:pt>
                <c:pt idx="2">
                  <c:v>923002.27000000072</c:v>
                </c:pt>
                <c:pt idx="3">
                  <c:v>945239.45999999973</c:v>
                </c:pt>
                <c:pt idx="4">
                  <c:v>922457.05000000051</c:v>
                </c:pt>
                <c:pt idx="5">
                  <c:v>915275.55000000086</c:v>
                </c:pt>
                <c:pt idx="6">
                  <c:v>931127.76000000071</c:v>
                </c:pt>
                <c:pt idx="7">
                  <c:v>915178.0900000009</c:v>
                </c:pt>
                <c:pt idx="8">
                  <c:v>923173.06</c:v>
                </c:pt>
                <c:pt idx="9">
                  <c:v>923929.48000000103</c:v>
                </c:pt>
                <c:pt idx="10">
                  <c:v>937740.81000000041</c:v>
                </c:pt>
                <c:pt idx="11">
                  <c:v>940445.36999999965</c:v>
                </c:pt>
                <c:pt idx="12">
                  <c:v>912705.05999999912</c:v>
                </c:pt>
                <c:pt idx="13">
                  <c:v>905174.51999999979</c:v>
                </c:pt>
                <c:pt idx="14">
                  <c:v>937835.65999999957</c:v>
                </c:pt>
                <c:pt idx="15">
                  <c:v>889266.7499999986</c:v>
                </c:pt>
                <c:pt idx="16">
                  <c:v>961676.36999999941</c:v>
                </c:pt>
                <c:pt idx="17">
                  <c:v>955162.55000000063</c:v>
                </c:pt>
                <c:pt idx="18">
                  <c:v>975913.24999999977</c:v>
                </c:pt>
                <c:pt idx="19">
                  <c:v>929312.66000000061</c:v>
                </c:pt>
                <c:pt idx="20">
                  <c:v>899528.39000000095</c:v>
                </c:pt>
                <c:pt idx="21">
                  <c:v>929314.23999999964</c:v>
                </c:pt>
                <c:pt idx="22">
                  <c:v>915063.94000000053</c:v>
                </c:pt>
                <c:pt idx="23">
                  <c:v>974277.75999999919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DFE-4BAE-9AD1-3F47733FAD2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412751744"/>
        <c:axId val="412752704"/>
      </c:lineChart>
      <c:catAx>
        <c:axId val="4127517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12752704"/>
        <c:crosses val="autoZero"/>
        <c:auto val="0"/>
        <c:lblAlgn val="ctr"/>
        <c:lblOffset val="100"/>
        <c:noMultiLvlLbl val="0"/>
      </c:catAx>
      <c:valAx>
        <c:axId val="412752704"/>
        <c:scaling>
          <c:orientation val="minMax"/>
        </c:scaling>
        <c:delete val="1"/>
        <c:axPos val="l"/>
        <c:numFmt formatCode="&quot;$&quot;#,##0.00" sourceLinked="1"/>
        <c:majorTickMark val="out"/>
        <c:minorTickMark val="none"/>
        <c:tickLblPos val="nextTo"/>
        <c:crossAx val="4127517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6">
        <a:lumMod val="60000"/>
        <a:lumOff val="40000"/>
      </a:schemeClr>
    </a:solidFill>
    <a:ln w="9525" cap="flat" cmpd="sng" algn="ctr">
      <a:noFill/>
      <a:round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[Online sales assignment 2.xlsx]Explore!PivotTable14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pP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Sales across Product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1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4.1666666666666664E-2"/>
          <c:y val="0.22343373493975907"/>
          <c:w val="0.92361111111111116"/>
          <c:h val="0.63681766435822029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Explore!$H$9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Explore!$G$10:$G$15</c:f>
              <c:strCache>
                <c:ptCount val="5"/>
                <c:pt idx="0">
                  <c:v>Accessories</c:v>
                </c:pt>
                <c:pt idx="1">
                  <c:v>Apparel</c:v>
                </c:pt>
                <c:pt idx="2">
                  <c:v>Electronics</c:v>
                </c:pt>
                <c:pt idx="3">
                  <c:v>Furniture</c:v>
                </c:pt>
                <c:pt idx="4">
                  <c:v>Stationery</c:v>
                </c:pt>
              </c:strCache>
            </c:strRef>
          </c:cat>
          <c:val>
            <c:numRef>
              <c:f>Explore!$H$10:$H$15</c:f>
              <c:numCache>
                <c:formatCode>"$"#,##0.00</c:formatCode>
                <c:ptCount val="5"/>
                <c:pt idx="0">
                  <c:v>4578876.45</c:v>
                </c:pt>
                <c:pt idx="1">
                  <c:v>4479946.5900000008</c:v>
                </c:pt>
                <c:pt idx="2">
                  <c:v>4412290.07</c:v>
                </c:pt>
                <c:pt idx="3">
                  <c:v>4491795.9900000012</c:v>
                </c:pt>
                <c:pt idx="4">
                  <c:v>4399145.0500000026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695-4D71-A05A-9475D6E90DFC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overlap val="-27"/>
        <c:axId val="452313472"/>
        <c:axId val="452316352"/>
      </c:barChart>
      <c:catAx>
        <c:axId val="452313472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52316352"/>
        <c:crosses val="autoZero"/>
        <c:auto val="1"/>
        <c:lblAlgn val="ctr"/>
        <c:lblOffset val="100"/>
        <c:noMultiLvlLbl val="0"/>
      </c:catAx>
      <c:valAx>
        <c:axId val="452316352"/>
        <c:scaling>
          <c:orientation val="minMax"/>
        </c:scaling>
        <c:delete val="1"/>
        <c:axPos val="l"/>
        <c:numFmt formatCode="&quot;$&quot;#,##0.00" sourceLinked="1"/>
        <c:majorTickMark val="out"/>
        <c:minorTickMark val="none"/>
        <c:tickLblPos val="nextTo"/>
        <c:crossAx val="45231347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6">
        <a:lumMod val="60000"/>
        <a:lumOff val="40000"/>
      </a:schemeClr>
    </a:solidFill>
    <a:ln w="9525" cap="flat" cmpd="sng" algn="ctr">
      <a:noFill/>
      <a:round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[Online sales assignment 2.xlsx]Explore!PivotTable17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Product descriptions performance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Explore!$Q$18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Explore!$P$19:$P$30</c:f>
              <c:strCache>
                <c:ptCount val="11"/>
                <c:pt idx="0">
                  <c:v>Backpack</c:v>
                </c:pt>
                <c:pt idx="1">
                  <c:v>Blue Pen</c:v>
                </c:pt>
                <c:pt idx="2">
                  <c:v>Desk Lamp</c:v>
                </c:pt>
                <c:pt idx="3">
                  <c:v>Headphones</c:v>
                </c:pt>
                <c:pt idx="4">
                  <c:v>Notebook</c:v>
                </c:pt>
                <c:pt idx="5">
                  <c:v>Office Chair</c:v>
                </c:pt>
                <c:pt idx="6">
                  <c:v>T-shirt</c:v>
                </c:pt>
                <c:pt idx="7">
                  <c:v>USB Cable</c:v>
                </c:pt>
                <c:pt idx="8">
                  <c:v>Wall Clock</c:v>
                </c:pt>
                <c:pt idx="9">
                  <c:v>White Mug</c:v>
                </c:pt>
                <c:pt idx="10">
                  <c:v>Wireless Mouse</c:v>
                </c:pt>
              </c:strCache>
            </c:strRef>
          </c:cat>
          <c:val>
            <c:numRef>
              <c:f>Explore!$Q$19:$Q$30</c:f>
              <c:numCache>
                <c:formatCode>"$"#,##0.00</c:formatCode>
                <c:ptCount val="11"/>
                <c:pt idx="0">
                  <c:v>1993277.9999999972</c:v>
                </c:pt>
                <c:pt idx="1">
                  <c:v>1920574.0700000015</c:v>
                </c:pt>
                <c:pt idx="2">
                  <c:v>2002814.1900000018</c:v>
                </c:pt>
                <c:pt idx="3">
                  <c:v>1975785.1399999962</c:v>
                </c:pt>
                <c:pt idx="4">
                  <c:v>2026511.1699999995</c:v>
                </c:pt>
                <c:pt idx="5">
                  <c:v>1973370.9999999988</c:v>
                </c:pt>
                <c:pt idx="6">
                  <c:v>2008632.5900000026</c:v>
                </c:pt>
                <c:pt idx="7">
                  <c:v>2013765.5899999968</c:v>
                </c:pt>
                <c:pt idx="8">
                  <c:v>2123500.5099999993</c:v>
                </c:pt>
                <c:pt idx="9">
                  <c:v>2170183.6999999997</c:v>
                </c:pt>
                <c:pt idx="10">
                  <c:v>2153638.1900000018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B2-4BA8-81E0-4848BF170A44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2"/>
        <c:axId val="433807488"/>
        <c:axId val="433807968"/>
      </c:barChart>
      <c:catAx>
        <c:axId val="433807488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3807968"/>
        <c:crosses val="autoZero"/>
        <c:auto val="1"/>
        <c:lblAlgn val="ctr"/>
        <c:lblOffset val="100"/>
        <c:noMultiLvlLbl val="0"/>
      </c:catAx>
      <c:valAx>
        <c:axId val="433807968"/>
        <c:scaling>
          <c:orientation val="minMax"/>
        </c:scaling>
        <c:delete val="1"/>
        <c:axPos val="b"/>
        <c:numFmt formatCode="&quot;$&quot;#,##0.00" sourceLinked="1"/>
        <c:majorTickMark val="out"/>
        <c:minorTickMark val="none"/>
        <c:tickLblPos val="nextTo"/>
        <c:crossAx val="43380748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6">
        <a:lumMod val="60000"/>
        <a:lumOff val="40000"/>
      </a:schemeClr>
    </a:solidFill>
    <a:ln w="9525" cap="flat" cmpd="sng" algn="ctr">
      <a:noFill/>
      <a:round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[Online sales assignment 2.xlsx]Explore!PivotTable15</c:name>
    <c:fmtId val="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Shipment Frequency distribution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>
              <a:lumMod val="75000"/>
            </a:schemeClr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3.3782681503203037E-2"/>
          <c:y val="0.16708351650151951"/>
          <c:w val="0.93888888888888888"/>
          <c:h val="0.7208876494604841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Explore!$B$18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Explore!$A$19:$A$23</c:f>
              <c:strCache>
                <c:ptCount val="4"/>
                <c:pt idx="0">
                  <c:v>DHL</c:v>
                </c:pt>
                <c:pt idx="1">
                  <c:v>FedEx</c:v>
                </c:pt>
                <c:pt idx="2">
                  <c:v>Royal Mail</c:v>
                </c:pt>
                <c:pt idx="3">
                  <c:v>UPS</c:v>
                </c:pt>
              </c:strCache>
            </c:strRef>
          </c:cat>
          <c:val>
            <c:numRef>
              <c:f>Explore!$B$19:$B$23</c:f>
              <c:numCache>
                <c:formatCode>General</c:formatCode>
                <c:ptCount val="4"/>
                <c:pt idx="0">
                  <c:v>4396</c:v>
                </c:pt>
                <c:pt idx="1">
                  <c:v>4526</c:v>
                </c:pt>
                <c:pt idx="2">
                  <c:v>4376</c:v>
                </c:pt>
                <c:pt idx="3">
                  <c:v>4436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394-4342-967F-105E406EE94A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2"/>
        <c:overlap val="-27"/>
        <c:axId val="411850416"/>
        <c:axId val="495282688"/>
      </c:barChart>
      <c:catAx>
        <c:axId val="4118504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5282688"/>
        <c:crosses val="autoZero"/>
        <c:auto val="1"/>
        <c:lblAlgn val="ctr"/>
        <c:lblOffset val="100"/>
        <c:noMultiLvlLbl val="0"/>
      </c:catAx>
      <c:valAx>
        <c:axId val="49528268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11850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6">
        <a:lumMod val="60000"/>
        <a:lumOff val="40000"/>
      </a:schemeClr>
    </a:solidFill>
    <a:ln w="9525" cap="flat" cmpd="sng" algn="ctr">
      <a:noFill/>
      <a:round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[Online sales assignment 2.xlsx]Explore!PivotTable20</c:name>
    <c:fmtId val="7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Order Priority by Payment method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6">
              <a:lumMod val="75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Explore!$T$2:$T$3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chemeClr val="accent6">
                <a:lumMod val="75000"/>
              </a:schemeClr>
            </a:solidFill>
            <a:ln>
              <a:noFill/>
            </a:ln>
            <a:effectLst/>
          </c:spPr>
          <c:invertIfNegative val="0"/>
          <c:cat>
            <c:strRef>
              <c:f>Explore!$S$4:$S$7</c:f>
              <c:strCache>
                <c:ptCount val="3"/>
                <c:pt idx="0">
                  <c:v>Bank Transfer</c:v>
                </c:pt>
                <c:pt idx="1">
                  <c:v>Credit Card</c:v>
                </c:pt>
                <c:pt idx="2">
                  <c:v>Paypal</c:v>
                </c:pt>
              </c:strCache>
            </c:strRef>
          </c:cat>
          <c:val>
            <c:numRef>
              <c:f>Explore!$T$4:$T$7</c:f>
              <c:numCache>
                <c:formatCode>General</c:formatCode>
                <c:ptCount val="3"/>
                <c:pt idx="0">
                  <c:v>2550681.0100000002</c:v>
                </c:pt>
                <c:pt idx="1">
                  <c:v>2479628.3599999985</c:v>
                </c:pt>
                <c:pt idx="2">
                  <c:v>2465708.6799999969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25-4CA6-88A4-EF749CB76761}"/>
            </c:ext>
          </c:extLst>
        </c:ser>
        <c:ser>
          <c:idx val="1"/>
          <c:order val="1"/>
          <c:tx>
            <c:strRef>
              <c:f>Explore!$U$2:$U$3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Explore!$S$4:$S$7</c:f>
              <c:strCache>
                <c:ptCount val="3"/>
                <c:pt idx="0">
                  <c:v>Bank Transfer</c:v>
                </c:pt>
                <c:pt idx="1">
                  <c:v>Credit Card</c:v>
                </c:pt>
                <c:pt idx="2">
                  <c:v>Paypal</c:v>
                </c:pt>
              </c:strCache>
            </c:strRef>
          </c:cat>
          <c:val>
            <c:numRef>
              <c:f>Explore!$U$4:$U$7</c:f>
              <c:numCache>
                <c:formatCode>General</c:formatCode>
                <c:ptCount val="3"/>
                <c:pt idx="0">
                  <c:v>2484948.4700000007</c:v>
                </c:pt>
                <c:pt idx="1">
                  <c:v>2509828.0100000007</c:v>
                </c:pt>
                <c:pt idx="2">
                  <c:v>2343312.629999999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25-4CA6-88A4-EF749CB76761}"/>
            </c:ext>
          </c:extLst>
        </c:ser>
        <c:ser>
          <c:idx val="2"/>
          <c:order val="2"/>
          <c:tx>
            <c:strRef>
              <c:f>Explore!$V$2:$V$3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  <a:effectLst/>
          </c:spPr>
          <c:invertIfNegative val="0"/>
          <c:cat>
            <c:strRef>
              <c:f>Explore!$S$4:$S$7</c:f>
              <c:strCache>
                <c:ptCount val="3"/>
                <c:pt idx="0">
                  <c:v>Bank Transfer</c:v>
                </c:pt>
                <c:pt idx="1">
                  <c:v>Credit Card</c:v>
                </c:pt>
                <c:pt idx="2">
                  <c:v>Paypal</c:v>
                </c:pt>
              </c:strCache>
            </c:strRef>
          </c:cat>
          <c:val>
            <c:numRef>
              <c:f>Explore!$V$4:$V$7</c:f>
              <c:numCache>
                <c:formatCode>General</c:formatCode>
                <c:ptCount val="3"/>
                <c:pt idx="0">
                  <c:v>2552804.3900000034</c:v>
                </c:pt>
                <c:pt idx="1">
                  <c:v>2559457.9600000023</c:v>
                </c:pt>
                <c:pt idx="2">
                  <c:v>2415684.6399999969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625-4CA6-88A4-EF749CB767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2"/>
        <c:axId val="2139452864"/>
        <c:axId val="2139453344"/>
      </c:barChart>
      <c:catAx>
        <c:axId val="213945286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39453344"/>
        <c:crosses val="autoZero"/>
        <c:auto val="1"/>
        <c:lblAlgn val="ctr"/>
        <c:lblOffset val="100"/>
        <c:noMultiLvlLbl val="0"/>
      </c:catAx>
      <c:valAx>
        <c:axId val="213945334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1394528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6">
        <a:lumMod val="60000"/>
        <a:lumOff val="40000"/>
      </a:schemeClr>
    </a:solidFill>
    <a:ln w="9525" cap="flat" cmpd="sng" algn="ctr">
      <a:noFill/>
      <a:round/>
    </a:ln>
    <a:effectLst>
      <a:outerShdw blurRad="63500" sx="102000" sy="102000" algn="ctr" rotWithShape="0">
        <a:prstClr val="black">
          <a:alpha val="40000"/>
        </a:prstClr>
      </a:outerShdw>
    </a:effectLst>
  </c:spPr>
  <c:txPr>
    <a:bodyPr/>
    <a:lstStyle/>
    <a:p>
      <a:pPr>
        <a:defRPr/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23C89-183D-82A3-A058-23A8E903683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C0A45-6A8F-8F65-B8EE-241E530CD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3C55C4-32DA-A001-20BE-BDFFA70184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81A2-F2E4-48C0-872C-77E4883709F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B95796-194A-224E-8922-C9859F1EC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C434EA-198C-8377-7880-E68BFAD22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04113-389E-4D4F-B4B6-28418E576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525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E8053-8935-5CF1-08E8-06AC9FF3D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257AFF-19AE-EDD3-70AD-79DA7F84D7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3C3737-D946-74F9-D625-8E9F5803D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81A2-F2E4-48C0-872C-77E4883709F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0EB3CD-CC32-29D9-F267-9B01927A0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1B1335-1114-C68E-7555-E40384AAB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04113-389E-4D4F-B4B6-28418E576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7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F0DA8-9142-2B01-8F15-6E494D43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EAF570-A90A-AA25-7A7C-3A47C1CCF4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B2153-8182-70D2-6B57-D526903BC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81A2-F2E4-48C0-872C-77E4883709F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7EDB0-6D59-A8E3-4910-8748E7051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A363F-E350-33D8-6B3F-9A48DE95C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04113-389E-4D4F-B4B6-28418E576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01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70970-0844-EA45-A8BD-8E752DA732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E77DEA-56E9-DC8B-DE28-42B83E8355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F50FAC-8688-8F9C-1EB3-1EA11296E1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7D45A6-1890-7570-366C-F28FDFF9D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81A2-F2E4-48C0-872C-77E4883709F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CD0714-1FA5-429C-0399-5DF23F368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FA1F6-E212-6072-A330-F8F2D9C30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04113-389E-4D4F-B4B6-28418E576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8667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9270E-6BF8-D5BF-2D63-C363171A1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F2481-07AF-E260-EFFC-E434DB358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0DEDD0-77AC-17F2-FAF8-627432C395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D1D151-D5A0-12D1-6D4C-EBF9928B5D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830C510-7313-4CC3-C881-9B2FB76C14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9B826A8-3C64-077C-5DCA-14C370FE8B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81A2-F2E4-48C0-872C-77E4883709F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9BB9B3-21BF-6EEE-0533-A98707D79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7C60E1C-F927-CBAA-BA48-3592F2DFB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04113-389E-4D4F-B4B6-28418E576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982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41951-B4F6-1830-CF94-0AA177BC7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669C47-3542-8625-8ABC-8EFDBFB2D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81A2-F2E4-48C0-872C-77E4883709F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09D272-E738-4EAA-0C3B-D4801F757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9A9231-FBFC-E3A0-BB43-E69FA619E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04113-389E-4D4F-B4B6-28418E576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903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3D4AB4B-8FC1-FF11-2F4E-1F55FBAA4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81A2-F2E4-48C0-872C-77E4883709F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61D29E-6E5A-B26A-896A-27147B448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3697B6-B894-5337-7D55-DCA300794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04113-389E-4D4F-B4B6-28418E576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9519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7F5BA-10EF-5035-1D2A-E61C31F2C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2F133-26CC-382F-E251-0A736A536B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AC7C35-F5F1-B134-C780-745087CFD9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B30168-DBC9-A1CD-F3D3-68E726F3F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81A2-F2E4-48C0-872C-77E4883709F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1D51D-405D-03BA-CF5E-2CC7749C1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11EBA1-91B4-4013-71A8-E40F1FE6E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04113-389E-4D4F-B4B6-28418E576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38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75E13-0C90-77BA-1E51-080AD7D2A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19D786-CC95-82D3-71DD-B81733B30F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850E16-2789-043D-576C-372301396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D0012E-E396-3B1D-0A56-C79A9E142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81A2-F2E4-48C0-872C-77E4883709F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9921A4-0249-D3D6-EB34-E9F8343D5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67B21C-5D6B-E26C-109B-2F196C977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04113-389E-4D4F-B4B6-28418E576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657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5DBD4-511A-0965-C791-0859167A7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DF5114-9A71-47C2-220B-FE1AF24A0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3ACAEE-1BFE-0C8D-3FEA-45F9CB88D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81A2-F2E4-48C0-872C-77E4883709F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32AAC-2DC1-0B5B-B159-01E88E199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75D1F-F45D-161C-71DF-AAE016C46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04113-389E-4D4F-B4B6-28418E576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02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AFABB06-FFB4-7D41-5381-6A19529DAC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A86B0B-9F0C-3CE4-C4E5-312D397336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B3A4BB-E56F-9C3C-3E95-86921E7DC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7081A2-F2E4-48C0-872C-77E4883709F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DEC414-27FD-286B-9D9D-E666EA5E8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31A882-E74C-11CC-441F-DB86D19A5B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C004113-389E-4D4F-B4B6-28418E576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39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25C8BE-CA12-67CC-6546-E65686AD7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A0D303-7874-77C2-D744-A98F3358E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227D8-6DD8-FED3-93E5-E2EF923C64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7081A2-F2E4-48C0-872C-77E4883709FF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9C02DD-8023-98D9-17EB-D1EB2D3E14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E4B194-D2FD-6CE4-88A5-643AE73D2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004113-389E-4D4F-B4B6-28418E5764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505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0CE70B-9F2C-03BC-38A9-72BF792F2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5738" y="233905"/>
            <a:ext cx="9492343" cy="935138"/>
          </a:xfrm>
          <a:solidFill>
            <a:schemeClr val="accent6">
              <a:lumMod val="75000"/>
            </a:schemeClr>
          </a:solidFill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Sales Performance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67513C-30E2-A3D8-E45A-7B2617E582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49437" y="2361066"/>
            <a:ext cx="9144000" cy="3212419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Online sales dataset</a:t>
            </a:r>
          </a:p>
          <a:p>
            <a:pPr algn="l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Power Query, Excel</a:t>
            </a:r>
          </a:p>
          <a:p>
            <a:pPr algn="l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Prepared by: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Odunze-Akasiugwu Onyinye Shirley</a:t>
            </a:r>
          </a:p>
          <a:p>
            <a:pPr algn="l"/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en-US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February, 2026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8741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4C019-76E2-CAB3-4F58-0A377CC2A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1096E-81F8-3D25-CF9F-AD3F029AF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68233" y="43545"/>
            <a:ext cx="5092861" cy="743533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Executive Summary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3231A1-FAB6-6041-D3D7-E51022DB9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001486"/>
            <a:ext cx="9144000" cy="5202544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 Sales: </a:t>
            </a:r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$22.36M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Top Categories: Accessories &amp; Furniture lead sales.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FedEx has the highest shipment frequency.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Peak sales times: </a:t>
            </a:r>
            <a:r>
              <a:rPr lang="en-US" sz="28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 PM &amp; 11 PM</a:t>
            </a: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28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Regional variation: Strong performance in UK &amp; US, moderate in EU countries.</a:t>
            </a:r>
          </a:p>
        </p:txBody>
      </p:sp>
    </p:spTree>
    <p:extLst>
      <p:ext uri="{BB962C8B-B14F-4D97-AF65-F5344CB8AC3E}">
        <p14:creationId xmlns:p14="http://schemas.microsoft.com/office/powerpoint/2010/main" val="444802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AF27E-3D33-53CC-C928-98F112F43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B8255-822F-685E-3F79-EB03331C7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75635" y="43545"/>
            <a:ext cx="6007261" cy="653135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Trends Across Regions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DD3682-53DD-EDA9-5A4E-BED95231B8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468" y="1186548"/>
            <a:ext cx="6840786" cy="4974772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UK and US consistently lead in sales.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European countries show fluctuations (e.g., Germany, France).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CC8A5AC0-5D07-4700-874F-7F85A86C00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4152009"/>
              </p:ext>
            </p:extLst>
          </p:nvPr>
        </p:nvGraphicFramePr>
        <p:xfrm>
          <a:off x="6964254" y="1284417"/>
          <a:ext cx="4957670" cy="31718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36642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90E77-DC6B-03CA-0B30-E844313BA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5AE81-BB31-0317-9404-9F952CD485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89094" y="25776"/>
            <a:ext cx="4704290" cy="576109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Trend Across Time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614061-0C32-2E31-9BAB-2B16B0BDA4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3930" y="1258339"/>
            <a:ext cx="6647731" cy="2170661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sales at 2 PM &amp; 11 PM, dips at early morning.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A9B74A6-8F82-4413-B212-A2B6A5DACBC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2608250"/>
              </p:ext>
            </p:extLst>
          </p:nvPr>
        </p:nvGraphicFramePr>
        <p:xfrm>
          <a:off x="7066511" y="1258339"/>
          <a:ext cx="4971159" cy="34178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765959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1E5F5-6F54-96E2-F9F1-55F83C12A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DE625E-2B2C-911E-BD6C-F6927AF6CA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95554" y="35273"/>
            <a:ext cx="5764194" cy="664029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by Product Category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270503-2CEC-ED54-F223-870A3F6172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4958" y="1223616"/>
            <a:ext cx="6362638" cy="3116890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Insight: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Accessories ($4.58M) and Furniture ($4.49M) outperform others.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Stationery lags slightly behind.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F81C02F7-5661-4843-8C10-84D3FAAF3B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09067649"/>
              </p:ext>
            </p:extLst>
          </p:nvPr>
        </p:nvGraphicFramePr>
        <p:xfrm>
          <a:off x="6377650" y="1111170"/>
          <a:ext cx="5459391" cy="37536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84538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B24FF-F9B2-858E-D543-817E766BF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59942-8032-119A-4EF1-3A7E579591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55879" y="46847"/>
            <a:ext cx="6434420" cy="664029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Product-Level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E9705D-AAB5-A5F1-D001-4E5895F967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9680" y="992124"/>
            <a:ext cx="6037437" cy="4112311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 Mug, Wireless Mouse, Wall Clock are top performers.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Office Chair &amp; Blue Pen underperform.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3D15D574-E5B7-4EF8-A8BE-660F5F3A25D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6652152"/>
              </p:ext>
            </p:extLst>
          </p:nvPr>
        </p:nvGraphicFramePr>
        <p:xfrm>
          <a:off x="6096000" y="1063026"/>
          <a:ext cx="5706320" cy="38596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56065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AC259D-9E50-7933-DBD7-63624D990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13A4F-4D5E-016F-7EF2-411FD6ADB8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646026" y="52084"/>
            <a:ext cx="4829176" cy="630822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Shipment Frequency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920E5D-092A-2CBE-B700-C20D2252F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0390" y="1088571"/>
            <a:ext cx="5725609" cy="3066740"/>
          </a:xfrm>
        </p:spPr>
        <p:txBody>
          <a:bodyPr>
            <a:no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pPr algn="l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FedEx leads with 4,526 shipments.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Royal Mail slightly lower at 4,376.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D5F2EEE3-2462-4C34-88D9-90CF192FBE0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9510369"/>
              </p:ext>
            </p:extLst>
          </p:nvPr>
        </p:nvGraphicFramePr>
        <p:xfrm>
          <a:off x="6507536" y="1523223"/>
          <a:ext cx="5101871" cy="29561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9664018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3E48C-5764-8A3C-BC53-0E699DBDE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9194F-E4D1-DFB6-2C78-28B731335D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29741" y="67931"/>
            <a:ext cx="7176305" cy="58025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 Priority by Payment Method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C22855-FC7C-24EA-C3DF-C944171B5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92" y="1269916"/>
            <a:ext cx="6902367" cy="4077588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PayPal customers place more High priority orders.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Credit Card &amp; Bank Transfer skew toward Medium priority.</a:t>
            </a:r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1E2F1814-4B35-413B-A879-FAF8BA435E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27091682"/>
              </p:ext>
            </p:extLst>
          </p:nvPr>
        </p:nvGraphicFramePr>
        <p:xfrm>
          <a:off x="7205823" y="1618898"/>
          <a:ext cx="4519331" cy="34971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76991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9A1D5E-CCFF-8D1A-A417-DD29D9040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443E7-9E91-DAF4-8C70-E38CEA265F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87210" y="65315"/>
            <a:ext cx="5775767" cy="674914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E3FE6B-98AD-5CFE-0112-F3D8CF997C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08322"/>
            <a:ext cx="9144000" cy="4800593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1" dirty="0"/>
              <a:t>Improve Sales &amp; Marketing:</a:t>
            </a:r>
            <a:endParaRPr lang="en-US" dirty="0"/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dirty="0"/>
              <a:t>Focus campaigns on UK &amp; US.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dirty="0"/>
              <a:t>Promote Accessories &amp; Furniture.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dirty="0"/>
              <a:t>Target peak sales hours with ads.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1" dirty="0"/>
              <a:t>Optimize Inventory &amp; Stock Planning:</a:t>
            </a:r>
            <a:endParaRPr lang="en-US" dirty="0"/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dirty="0"/>
              <a:t>Increase stock for top products.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dirty="0"/>
              <a:t>Reduce low-performing SKUs.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dirty="0"/>
              <a:t>Align warehouse stock with regional demand.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b="1" dirty="0"/>
              <a:t>Enhance Customer Experience:</a:t>
            </a:r>
            <a:endParaRPr lang="en-US" dirty="0"/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dirty="0"/>
              <a:t>Partner with FedEx for reliable shipping.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dirty="0"/>
              <a:t>Improve PayPal checkout for high-priority customers.</a:t>
            </a:r>
          </a:p>
          <a:p>
            <a:pPr marL="800100" lvl="1" indent="-342900" algn="l">
              <a:buFont typeface="Wingdings" panose="05000000000000000000" pitchFamily="2" charset="2"/>
              <a:buChar char="Ø"/>
            </a:pPr>
            <a:r>
              <a:rPr lang="en-US" dirty="0"/>
              <a:t>Offer personalized discounts based on purchase behavior.</a:t>
            </a:r>
          </a:p>
          <a:p>
            <a:pPr marL="342900" indent="-342900" algn="l">
              <a:buFont typeface="Wingdings" panose="05000000000000000000" pitchFamily="2" charset="2"/>
              <a:buChar char="Ø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9536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2EB13-FF56-8512-DDD1-2FA37E631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FFF7-2FF6-C4C2-2970-8B821D8522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069771" y="65315"/>
            <a:ext cx="4659086" cy="674914"/>
          </a:xfrm>
        </p:spPr>
        <p:txBody>
          <a:bodyPr>
            <a:normAutofit/>
          </a:bodyPr>
          <a:lstStyle/>
          <a:p>
            <a:r>
              <a:rPr lang="en-US" sz="3600" b="1" dirty="0"/>
              <a:t>Conclusion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7D820E-B0AE-71C6-DF8D-035166FE11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208323"/>
            <a:ext cx="9144000" cy="3467850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are strong but uneven across regions and categories.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opportunities exist in </a:t>
            </a: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regional targeting, inventory optimization, and customer experience improvements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Implementing these strategies will drive growth and efficiency.</a:t>
            </a:r>
            <a:endParaRPr lang="en-US" sz="28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32107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1034</TotalTime>
  <Words>348</Words>
  <Application>Microsoft Office PowerPoint</Application>
  <PresentationFormat>Widescreen</PresentationFormat>
  <Paragraphs>71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Wingdings</vt:lpstr>
      <vt:lpstr>Office Theme</vt:lpstr>
      <vt:lpstr>Online Sales Performance Analysis</vt:lpstr>
      <vt:lpstr>Executive Summary</vt:lpstr>
      <vt:lpstr>Sales Trends Across Regions</vt:lpstr>
      <vt:lpstr>Sales Trend Across Time</vt:lpstr>
      <vt:lpstr>Sales by Product Category</vt:lpstr>
      <vt:lpstr>Product-Level Performance</vt:lpstr>
      <vt:lpstr>Shipment Frequency</vt:lpstr>
      <vt:lpstr>Order Priority by Payment Method</vt:lpstr>
      <vt:lpstr>Strategic 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Shirley Odunze-Akasiugwu</dc:creator>
  <cp:lastModifiedBy>Shirley Odunze-Akasiugwu</cp:lastModifiedBy>
  <cp:revision>5</cp:revision>
  <dcterms:created xsi:type="dcterms:W3CDTF">2026-02-06T23:01:55Z</dcterms:created>
  <dcterms:modified xsi:type="dcterms:W3CDTF">2026-02-09T22:44:27Z</dcterms:modified>
</cp:coreProperties>
</file>